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D24A99-221D-4ABF-ADAB-CC1AACBD64F2}" v="10" dt="2026-02-04T17:21:25.5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F2774-29C1-B152-FA11-657036C3B4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8A2CEB-F312-34D2-7692-2470AC08CB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36D3E-0028-0E84-84E4-3D4963DD9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85E08-CFBB-4E15-8911-A7D4582D001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C3AA7-5596-36A9-1900-02207C075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C685C-25B6-4FBF-CD49-0AD362BA2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B668A-A69C-4B8B-8ADD-3B659A843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7018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E8779-215E-9FE2-BEDA-31D181ABC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7BE92-41DE-CD83-B5A1-35A1BA129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AFA02-4EC6-812B-0C31-898BC249E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85E08-CFBB-4E15-8911-A7D4582D001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E9030-7AFF-A5C6-8E1A-D49C4AE44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FBD77-F497-CD90-AE6B-FCE76D1C8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B668A-A69C-4B8B-8ADD-3B659A843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189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26DFF-CD04-0347-DD3A-E4AF2AC61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F7E6F-823A-446C-8D79-351044F9EB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5912F-43AD-FE77-0586-E16813AF6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85E08-CFBB-4E15-8911-A7D4582D001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16895-092A-18E3-083C-2B37FA609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CB016-47D0-C7A5-9EDE-4D057FE8B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B668A-A69C-4B8B-8ADD-3B659A843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0730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1CA40-96D7-73D8-D686-F0633914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94677-1927-A131-1A4B-2D313B6BCA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5AFA54-C3CB-B5F4-7A46-92CD6EDBF9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B89BE4-8328-B349-93D9-1F03BB0D2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85E08-CFBB-4E15-8911-A7D4582D001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EE6EAC-87ED-A576-798E-FCBDE556D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B3A3F0-C5C5-F4FE-9C82-4CFC20E1C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B668A-A69C-4B8B-8ADD-3B659A843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8397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00ECE-A3B7-D1FD-6BF0-96620AFD3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A0DD9A-0B48-7E41-F9D7-63C33E5D6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DC8169-10C6-E365-B59F-A9C2BE1D0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1BD746-D76C-661B-7225-9A69B5E9C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D46D6C-9098-0EEE-4B4C-065C279FAC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4C2501-3908-F75C-8528-E524DC464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85E08-CFBB-4E15-8911-A7D4582D001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7D2704-60DC-845F-9B5F-E56471EC4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6FE83A-5591-E5AE-3F73-220331F84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B668A-A69C-4B8B-8ADD-3B659A843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292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53357-2665-F43B-20EE-E6EEC9398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7D8250-2349-7284-C1B3-3CBAD0460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85E08-CFBB-4E15-8911-A7D4582D001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7C6EF0-902F-DFD8-0540-8BAEAB419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616A06-68CE-11F5-D9F9-926CF259F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B668A-A69C-4B8B-8ADD-3B659A843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4370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239A3A-B280-DA33-2A94-E18F89277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85E08-CFBB-4E15-8911-A7D4582D001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86770B-8FE2-DA1A-821B-EC3FECB58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64A763-500B-1D84-D1D6-35EAF2C97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B668A-A69C-4B8B-8ADD-3B659A843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27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E6B3C-A0AB-0A21-4BDA-8539168FA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EE9E1-B142-2E5D-E923-888ADE200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7EF9F6-88B8-09A1-3A4D-D493A15C6C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1C8E2-CD2C-BB6D-B0EA-C3BA15A64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85E08-CFBB-4E15-8911-A7D4582D001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1975D-0CDD-9DB1-7965-C45388731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C4FED9-3353-8884-F400-6FE95D17B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B668A-A69C-4B8B-8ADD-3B659A843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7623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8FDB5-74A7-A26F-2A0C-9E25F7686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771045-729A-7D06-E7E7-92F04FE692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E6848C-0DF8-94F2-B3DE-8CA8F126DF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152192-F172-D43A-5F19-FB88014FD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85E08-CFBB-4E15-8911-A7D4582D001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522703-857F-CF4C-C0AA-32FE14A57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BFE720-87E7-9FF6-1851-A9993DD82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B668A-A69C-4B8B-8ADD-3B659A843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0485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491C4-206A-15C1-A26E-C18D40914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4B44E0-5AC8-2DD8-9A07-ED5E41B0E3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0F219-51E7-039B-B88A-16C31D86E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85E08-CFBB-4E15-8911-A7D4582D001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9C5CF-2538-398D-28C9-684F6BA54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37431-FE0B-7659-9938-AEF0CA6C0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B668A-A69C-4B8B-8ADD-3B659A843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1792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87A8A2-669F-9FA5-A8E4-6503879312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EFF9FC-8981-772C-1B41-B846DA08F1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0A763-F324-A68A-DBB6-138C1AA2E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85E08-CFBB-4E15-8911-A7D4582D001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943F3D-1C1D-DD39-0D98-71A96629C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DF4E6-C92D-6D8F-851E-CE56EBED1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B668A-A69C-4B8B-8ADD-3B659A843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4091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0E9F2A-A0C6-D384-F49F-F2A53E6E3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D845BA-B344-B33E-5A6C-A5C222443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6FE34-D1A4-926C-1F4D-4D4F224CA1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C85E08-CFBB-4E15-8911-A7D4582D001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86104-79F0-65E6-D3DE-6563C3E28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AF4D58-B5F6-8F9D-8EB7-B64CC7B8A7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B668A-A69C-4B8B-8ADD-3B659A843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967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DCC4C7-79E9-DB68-C4B3-55B03771E96C}"/>
              </a:ext>
            </a:extLst>
          </p:cNvPr>
          <p:cNvSpPr txBox="1"/>
          <p:nvPr/>
        </p:nvSpPr>
        <p:spPr>
          <a:xfrm>
            <a:off x="4365634" y="517087"/>
            <a:ext cx="32107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Module - 3</a:t>
            </a:r>
            <a:endParaRPr lang="en-IN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7B8251-11C2-470F-2FC3-E15AF9C24897}"/>
              </a:ext>
            </a:extLst>
          </p:cNvPr>
          <p:cNvSpPr txBox="1"/>
          <p:nvPr/>
        </p:nvSpPr>
        <p:spPr>
          <a:xfrm>
            <a:off x="1345622" y="1699644"/>
            <a:ext cx="105987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Alert Module is responsible for monitoring inventory conditions and notifying users automatically when predefined rules are violated.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493763-E831-06FC-AAB7-EB23CAC1E228}"/>
              </a:ext>
            </a:extLst>
          </p:cNvPr>
          <p:cNvSpPr txBox="1"/>
          <p:nvPr/>
        </p:nvSpPr>
        <p:spPr>
          <a:xfrm>
            <a:off x="1345622" y="2345975"/>
            <a:ext cx="104480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“The Alert Module continuously monitors inventory conditions and automatically notifies users about low stock, expiry, reorder, and critical inventory situations.”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6333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761C3F4-458C-EBD4-595C-1765641234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828229"/>
              </p:ext>
            </p:extLst>
          </p:nvPr>
        </p:nvGraphicFramePr>
        <p:xfrm>
          <a:off x="819362" y="1208842"/>
          <a:ext cx="11028128" cy="4887256"/>
        </p:xfrm>
        <a:graphic>
          <a:graphicData uri="http://schemas.openxmlformats.org/drawingml/2006/table">
            <a:tbl>
              <a:tblPr/>
              <a:tblGrid>
                <a:gridCol w="3027128">
                  <a:extLst>
                    <a:ext uri="{9D8B030D-6E8A-4147-A177-3AD203B41FA5}">
                      <a16:colId xmlns:a16="http://schemas.microsoft.com/office/drawing/2014/main" val="327307383"/>
                    </a:ext>
                  </a:extLst>
                </a:gridCol>
                <a:gridCol w="8001000">
                  <a:extLst>
                    <a:ext uri="{9D8B030D-6E8A-4147-A177-3AD203B41FA5}">
                      <a16:colId xmlns:a16="http://schemas.microsoft.com/office/drawing/2014/main" val="2100955908"/>
                    </a:ext>
                  </a:extLst>
                </a:gridCol>
              </a:tblGrid>
              <a:tr h="25219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600" b="1" dirty="0">
                          <a:highlight>
                            <a:srgbClr val="FFFF00"/>
                          </a:highlight>
                        </a:rPr>
                        <a:t>Class Name</a:t>
                      </a:r>
                      <a:endParaRPr lang="en-IN" sz="1600" dirty="0">
                        <a:highlight>
                          <a:srgbClr val="FFFF00"/>
                        </a:highlight>
                      </a:endParaRPr>
                    </a:p>
                  </a:txBody>
                  <a:tcPr marL="61748" marR="61748" marT="30874" marB="30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600" b="1" dirty="0"/>
                        <a:t> </a:t>
                      </a:r>
                      <a:r>
                        <a:rPr lang="en-IN" sz="1600" b="1" dirty="0">
                          <a:highlight>
                            <a:srgbClr val="FFFF00"/>
                          </a:highlight>
                        </a:rPr>
                        <a:t>Purpose</a:t>
                      </a:r>
                      <a:endParaRPr lang="en-IN" sz="1600" dirty="0">
                        <a:highlight>
                          <a:srgbClr val="FFFF00"/>
                        </a:highlight>
                      </a:endParaRPr>
                    </a:p>
                  </a:txBody>
                  <a:tcPr marL="61748" marR="61748" marT="30874" marB="30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1292723"/>
                  </a:ext>
                </a:extLst>
              </a:tr>
              <a:tr h="74377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600" b="1" dirty="0"/>
                        <a:t>Product (Reused Entity)</a:t>
                      </a:r>
                      <a:endParaRPr lang="en-IN" sz="1600" dirty="0"/>
                    </a:p>
                  </a:txBody>
                  <a:tcPr marL="61748" marR="61748" marT="30874" marB="30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600"/>
                        <a:t>Holds product inventory details used by the Alert Module to check stock levels and expiry conditions.</a:t>
                      </a:r>
                    </a:p>
                  </a:txBody>
                  <a:tcPr marL="61748" marR="61748" marT="30874" marB="30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7973431"/>
                  </a:ext>
                </a:extLst>
              </a:tr>
              <a:tr h="74377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600" b="1" dirty="0"/>
                        <a:t>Alert (Entity)</a:t>
                      </a:r>
                      <a:endParaRPr lang="en-IN" sz="1600" dirty="0"/>
                    </a:p>
                  </a:txBody>
                  <a:tcPr marL="61748" marR="61748" marT="30874" marB="30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600" dirty="0"/>
                        <a:t>Stores alert information such as alert type, message, status, and related product for tracking and history.</a:t>
                      </a:r>
                    </a:p>
                  </a:txBody>
                  <a:tcPr marL="61748" marR="61748" marT="30874" marB="30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9967656"/>
                  </a:ext>
                </a:extLst>
              </a:tr>
              <a:tr h="74377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600" b="1"/>
                        <a:t>AlertController</a:t>
                      </a:r>
                      <a:endParaRPr lang="en-IN" sz="1600"/>
                    </a:p>
                  </a:txBody>
                  <a:tcPr marL="61748" marR="61748" marT="30874" marB="30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600" dirty="0"/>
                        <a:t>Acts as the entry point to handle alert-related requests and send alert data to the UI/dashboard.</a:t>
                      </a:r>
                    </a:p>
                  </a:txBody>
                  <a:tcPr marL="61748" marR="61748" marT="30874" marB="30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0491098"/>
                  </a:ext>
                </a:extLst>
              </a:tr>
              <a:tr h="74377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600" b="1"/>
                        <a:t>AlertService</a:t>
                      </a:r>
                      <a:endParaRPr lang="en-IN" sz="1600"/>
                    </a:p>
                  </a:txBody>
                  <a:tcPr marL="61748" marR="61748" marT="30874" marB="30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600"/>
                        <a:t>Applies business rules to detect inventory issues, create alerts, and trigger notifications.</a:t>
                      </a:r>
                    </a:p>
                  </a:txBody>
                  <a:tcPr marL="61748" marR="61748" marT="30874" marB="30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808776"/>
                  </a:ext>
                </a:extLst>
              </a:tr>
              <a:tr h="74377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600" b="1"/>
                        <a:t>AlertRepository</a:t>
                      </a:r>
                      <a:endParaRPr lang="en-IN" sz="1600"/>
                    </a:p>
                  </a:txBody>
                  <a:tcPr marL="61748" marR="61748" marT="30874" marB="30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600"/>
                        <a:t>Handles database operations for saving, retrieving, and updating alert records.</a:t>
                      </a:r>
                    </a:p>
                  </a:txBody>
                  <a:tcPr marL="61748" marR="61748" marT="30874" marB="30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7048909"/>
                  </a:ext>
                </a:extLst>
              </a:tr>
              <a:tr h="74377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600" b="1"/>
                        <a:t>NotificationService</a:t>
                      </a:r>
                      <a:endParaRPr lang="en-IN" sz="1600"/>
                    </a:p>
                  </a:txBody>
                  <a:tcPr marL="61748" marR="61748" marT="30874" marB="30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600" dirty="0"/>
                        <a:t>Sends alert messages to users via email or SMS to ensure timely notification of critical events.</a:t>
                      </a:r>
                    </a:p>
                  </a:txBody>
                  <a:tcPr marL="61748" marR="61748" marT="30874" marB="30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1006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DA3AF0F-B4CE-9831-9446-FC804ECE20B8}"/>
              </a:ext>
            </a:extLst>
          </p:cNvPr>
          <p:cNvSpPr txBox="1"/>
          <p:nvPr/>
        </p:nvSpPr>
        <p:spPr>
          <a:xfrm>
            <a:off x="4566971" y="147484"/>
            <a:ext cx="35329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classes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490835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0751F6-B94C-BF49-D25C-C4F294E29429}"/>
              </a:ext>
            </a:extLst>
          </p:cNvPr>
          <p:cNvSpPr txBox="1"/>
          <p:nvPr/>
        </p:nvSpPr>
        <p:spPr>
          <a:xfrm>
            <a:off x="5517573" y="228600"/>
            <a:ext cx="37926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Modules</a:t>
            </a:r>
            <a:endParaRPr lang="en-IN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1B22F6-7B06-FA50-1AD9-434336D46AF7}"/>
              </a:ext>
            </a:extLst>
          </p:cNvPr>
          <p:cNvSpPr txBox="1"/>
          <p:nvPr/>
        </p:nvSpPr>
        <p:spPr>
          <a:xfrm>
            <a:off x="1052080" y="1120676"/>
            <a:ext cx="6094268" cy="424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Product Class (Reused from Product Module)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The Product class is reused to check </a:t>
            </a:r>
          </a:p>
          <a:p>
            <a:pPr>
              <a:lnSpc>
                <a:spcPct val="150000"/>
              </a:lnSpc>
            </a:pPr>
            <a:r>
              <a:rPr lang="en-US" dirty="0"/>
              <a:t>      inventory conditions.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/>
              <a:t>Why Product is Needed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Alert Module does </a:t>
            </a:r>
            <a:r>
              <a:rPr lang="en-US" b="1" dirty="0"/>
              <a:t>not work independently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depends on product data such as: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Product name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Current quantity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Minimum stock level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Expiry date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BA74CE-1AAE-2088-29E9-1307C78C72A7}"/>
              </a:ext>
            </a:extLst>
          </p:cNvPr>
          <p:cNvSpPr/>
          <p:nvPr/>
        </p:nvSpPr>
        <p:spPr>
          <a:xfrm>
            <a:off x="6473536" y="1830470"/>
            <a:ext cx="5309755" cy="4695021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4D0E51-5A1C-7A5F-03F4-581DA8467FA9}"/>
              </a:ext>
            </a:extLst>
          </p:cNvPr>
          <p:cNvSpPr/>
          <p:nvPr/>
        </p:nvSpPr>
        <p:spPr>
          <a:xfrm>
            <a:off x="831273" y="979957"/>
            <a:ext cx="4857750" cy="4695021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5CB0F8-2210-FD9E-F4A0-5A8C8BDB0ACC}"/>
              </a:ext>
            </a:extLst>
          </p:cNvPr>
          <p:cNvSpPr txBox="1"/>
          <p:nvPr/>
        </p:nvSpPr>
        <p:spPr>
          <a:xfrm>
            <a:off x="6597446" y="1905637"/>
            <a:ext cx="6096000" cy="461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/>
              <a:t>Alert Class (Entity)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The </a:t>
            </a:r>
            <a:r>
              <a:rPr lang="en-IN" b="1" dirty="0"/>
              <a:t>Alert class represents an alert record</a:t>
            </a:r>
            <a:r>
              <a:rPr lang="en-IN" dirty="0"/>
              <a:t> store</a:t>
            </a:r>
          </a:p>
          <a:p>
            <a:pPr>
              <a:lnSpc>
                <a:spcPct val="150000"/>
              </a:lnSpc>
            </a:pPr>
            <a:r>
              <a:rPr lang="en-IN" dirty="0"/>
              <a:t>      in the database.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Why </a:t>
            </a:r>
            <a:r>
              <a:rPr lang="en-IN" b="1" dirty="0"/>
              <a:t>Alert Class</a:t>
            </a:r>
            <a:r>
              <a:rPr lang="en-US" b="1" dirty="0"/>
              <a:t> is Needed</a:t>
            </a:r>
            <a:endParaRPr lang="en-IN" dirty="0"/>
          </a:p>
          <a:p>
            <a:pPr>
              <a:lnSpc>
                <a:spcPct val="150000"/>
              </a:lnSpc>
              <a:buNone/>
            </a:pPr>
            <a:r>
              <a:rPr lang="en-IN" dirty="0"/>
              <a:t>Stores details like: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Alert ID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Alert type (Low Stock / Expiry / Reorder)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Message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Status (Read / Unread)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Created date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Related Product ID</a:t>
            </a:r>
          </a:p>
        </p:txBody>
      </p:sp>
    </p:spTree>
    <p:extLst>
      <p:ext uri="{BB962C8B-B14F-4D97-AF65-F5344CB8AC3E}">
        <p14:creationId xmlns:p14="http://schemas.microsoft.com/office/powerpoint/2010/main" val="3176599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019468-4ED0-FD58-A34A-B90ED8553CFB}"/>
              </a:ext>
            </a:extLst>
          </p:cNvPr>
          <p:cNvSpPr txBox="1"/>
          <p:nvPr/>
        </p:nvSpPr>
        <p:spPr>
          <a:xfrm>
            <a:off x="875433" y="135572"/>
            <a:ext cx="6094268" cy="2950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/>
              <a:t>Alert Controller Class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What is Alert Controller?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The Alert Controller is the entry point of the Alert Module.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Why Alert Controller is need ?</a:t>
            </a:r>
            <a:endParaRPr lang="en-IN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Receives alert-related requests from UI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Sends alerts to frontend/dashboard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 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7A1E38-44AB-6D69-BA83-5078AAC08819}"/>
              </a:ext>
            </a:extLst>
          </p:cNvPr>
          <p:cNvSpPr/>
          <p:nvPr/>
        </p:nvSpPr>
        <p:spPr>
          <a:xfrm>
            <a:off x="1278082" y="342900"/>
            <a:ext cx="3418609" cy="25353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6095FE-F86A-577C-BEB9-95B8BE6A44FF}"/>
              </a:ext>
            </a:extLst>
          </p:cNvPr>
          <p:cNvSpPr/>
          <p:nvPr/>
        </p:nvSpPr>
        <p:spPr>
          <a:xfrm>
            <a:off x="875433" y="166816"/>
            <a:ext cx="10980593" cy="3251794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2F332A-5106-B9B9-C1AF-F123E5F1A67D}"/>
              </a:ext>
            </a:extLst>
          </p:cNvPr>
          <p:cNvSpPr txBox="1"/>
          <p:nvPr/>
        </p:nvSpPr>
        <p:spPr>
          <a:xfrm>
            <a:off x="1015712" y="3628513"/>
            <a:ext cx="6842412" cy="2950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Alert Service Class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What is Alert Service?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The </a:t>
            </a:r>
            <a:r>
              <a:rPr lang="en-US" b="1" dirty="0"/>
              <a:t>Alert Service is the brain of the Alert Module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Main Responsibilities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Fetch product data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Apply alert rules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Decide when to generate alerts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34CEAA-F046-2C83-F12C-B2016A79CB9F}"/>
              </a:ext>
            </a:extLst>
          </p:cNvPr>
          <p:cNvSpPr/>
          <p:nvPr/>
        </p:nvSpPr>
        <p:spPr>
          <a:xfrm>
            <a:off x="875433" y="3564082"/>
            <a:ext cx="10980593" cy="3127102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2A359E-5B5D-DBDF-21B7-BAFBA273A084}"/>
              </a:ext>
            </a:extLst>
          </p:cNvPr>
          <p:cNvSpPr txBox="1"/>
          <p:nvPr/>
        </p:nvSpPr>
        <p:spPr>
          <a:xfrm>
            <a:off x="7423467" y="0"/>
            <a:ext cx="6096000" cy="337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/>
              <a:t>Handles Requests Like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View all alerts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View unread alerts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Mark alert as read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Who Calls Alert Controller?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Frontend / Admin Dashboard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 Whom Does It Call?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Alert Service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3CFF46-3225-B696-2B2C-B81700E3DD55}"/>
              </a:ext>
            </a:extLst>
          </p:cNvPr>
          <p:cNvSpPr txBox="1"/>
          <p:nvPr/>
        </p:nvSpPr>
        <p:spPr>
          <a:xfrm>
            <a:off x="7423467" y="3856451"/>
            <a:ext cx="6980902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Who Calls Alert Service?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Alert Controller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Product Module (on stock update – optional)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Whom Does It Call?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Alert Repository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Product data (via Product entity)</a:t>
            </a:r>
          </a:p>
        </p:txBody>
      </p:sp>
    </p:spTree>
    <p:extLst>
      <p:ext uri="{BB962C8B-B14F-4D97-AF65-F5344CB8AC3E}">
        <p14:creationId xmlns:p14="http://schemas.microsoft.com/office/powerpoint/2010/main" val="3406313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CAD018-64DC-1DE2-CE26-D1D3864A2958}"/>
              </a:ext>
            </a:extLst>
          </p:cNvPr>
          <p:cNvSpPr txBox="1"/>
          <p:nvPr/>
        </p:nvSpPr>
        <p:spPr>
          <a:xfrm>
            <a:off x="563595" y="180258"/>
            <a:ext cx="6094268" cy="3365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/>
              <a:t>Alert Repository Class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What is Alert Repository?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The </a:t>
            </a:r>
            <a:r>
              <a:rPr lang="en-IN" b="1" dirty="0"/>
              <a:t>Alert Repository communicates with the database</a:t>
            </a:r>
            <a:r>
              <a:rPr lang="en-IN" dirty="0"/>
              <a:t> for alerts.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 Purpose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Save alerts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Fetch alerts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Update alert status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AA0F11-0E44-7B91-9B96-63CBA36BEC6D}"/>
              </a:ext>
            </a:extLst>
          </p:cNvPr>
          <p:cNvSpPr/>
          <p:nvPr/>
        </p:nvSpPr>
        <p:spPr>
          <a:xfrm>
            <a:off x="288291" y="180258"/>
            <a:ext cx="10876685" cy="3365537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BF93ED-5537-EA6C-37F1-CDB29217BB95}"/>
              </a:ext>
            </a:extLst>
          </p:cNvPr>
          <p:cNvSpPr/>
          <p:nvPr/>
        </p:nvSpPr>
        <p:spPr>
          <a:xfrm>
            <a:off x="288291" y="3809238"/>
            <a:ext cx="10876685" cy="2861552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7C1C7B-F9F8-94F8-1C81-0E422EBAB798}"/>
              </a:ext>
            </a:extLst>
          </p:cNvPr>
          <p:cNvSpPr txBox="1"/>
          <p:nvPr/>
        </p:nvSpPr>
        <p:spPr>
          <a:xfrm>
            <a:off x="927388" y="3809238"/>
            <a:ext cx="6832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Notification Service (Email / SMS)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D91714-6385-AF52-4D9E-DDE3A71AACD0}"/>
              </a:ext>
            </a:extLst>
          </p:cNvPr>
          <p:cNvSpPr txBox="1"/>
          <p:nvPr/>
        </p:nvSpPr>
        <p:spPr>
          <a:xfrm>
            <a:off x="927388" y="4113350"/>
            <a:ext cx="68320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is Notification Service?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Notification Service is responsible for </a:t>
            </a:r>
            <a:r>
              <a:rPr lang="en-US" b="1" dirty="0"/>
              <a:t>delivering alert messages</a:t>
            </a:r>
            <a:r>
              <a:rPr lang="en-US" dirty="0"/>
              <a:t> to users via:</a:t>
            </a:r>
          </a:p>
          <a:p>
            <a:r>
              <a:rPr lang="en-US" dirty="0"/>
              <a:t> Email /SMS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5CE505-E205-34F5-B529-8A8E570C329D}"/>
              </a:ext>
            </a:extLst>
          </p:cNvPr>
          <p:cNvSpPr txBox="1"/>
          <p:nvPr/>
        </p:nvSpPr>
        <p:spPr>
          <a:xfrm>
            <a:off x="927388" y="5313679"/>
            <a:ext cx="68320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Main Purpose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Send alerts immediately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Reduce dependency on dashboard checks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Ensure critical alerts are not missed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CAE649-DD48-E74B-7117-85612344B7AF}"/>
              </a:ext>
            </a:extLst>
          </p:cNvPr>
          <p:cNvSpPr txBox="1"/>
          <p:nvPr/>
        </p:nvSpPr>
        <p:spPr>
          <a:xfrm>
            <a:off x="6933167" y="825633"/>
            <a:ext cx="6096000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/>
              <a:t>Who Calls Alert Repository?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Alert Service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Whom Does It Call?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Database (Alert table)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551564-F95C-ADC6-8354-0506B391CDAF}"/>
              </a:ext>
            </a:extLst>
          </p:cNvPr>
          <p:cNvSpPr txBox="1"/>
          <p:nvPr/>
        </p:nvSpPr>
        <p:spPr>
          <a:xfrm>
            <a:off x="7759410" y="3809238"/>
            <a:ext cx="6513870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Who Calls Notification Service?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Alert Service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Whom Does It Notify?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Inventory Manager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Admin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Warehouse Supervisor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3634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AC5804-A70F-E7A7-18E1-F57EBA529CD4}"/>
              </a:ext>
            </a:extLst>
          </p:cNvPr>
          <p:cNvSpPr txBox="1"/>
          <p:nvPr/>
        </p:nvSpPr>
        <p:spPr>
          <a:xfrm>
            <a:off x="1031297" y="1003591"/>
            <a:ext cx="6094268" cy="2534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Problems Without Alert Module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Stock finishes suddenly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Products expire unnoticed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Manual checking required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Delayed purchase orders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Business losses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FBBCAB-8F64-EC57-E069-D48B0E493B4A}"/>
              </a:ext>
            </a:extLst>
          </p:cNvPr>
          <p:cNvSpPr txBox="1"/>
          <p:nvPr/>
        </p:nvSpPr>
        <p:spPr>
          <a:xfrm>
            <a:off x="6487084" y="1249397"/>
            <a:ext cx="6094268" cy="1703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Alert Module Solves These By: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Automatically monitoring stock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Sending real-time alerts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Reducing dependency on manual tracking</a:t>
            </a:r>
          </a:p>
        </p:txBody>
      </p:sp>
    </p:spTree>
    <p:extLst>
      <p:ext uri="{BB962C8B-B14F-4D97-AF65-F5344CB8AC3E}">
        <p14:creationId xmlns:p14="http://schemas.microsoft.com/office/powerpoint/2010/main" val="2125011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D170AA-63C5-4794-CDF4-7FF6FBCCBA33}"/>
              </a:ext>
            </a:extLst>
          </p:cNvPr>
          <p:cNvSpPr txBox="1"/>
          <p:nvPr/>
        </p:nvSpPr>
        <p:spPr>
          <a:xfrm>
            <a:off x="4144072" y="583975"/>
            <a:ext cx="5829299" cy="6274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/>
              <a:t>Product Stock Updated</a:t>
            </a:r>
          </a:p>
          <a:p>
            <a:pPr>
              <a:lnSpc>
                <a:spcPct val="150000"/>
              </a:lnSpc>
            </a:pPr>
            <a:r>
              <a:rPr lang="en-IN" dirty="0"/>
              <a:t>        ↓</a:t>
            </a:r>
          </a:p>
          <a:p>
            <a:pPr>
              <a:lnSpc>
                <a:spcPct val="150000"/>
              </a:lnSpc>
            </a:pPr>
            <a:r>
              <a:rPr lang="en-IN" dirty="0"/>
              <a:t>Alert Service checks Product quantity</a:t>
            </a:r>
          </a:p>
          <a:p>
            <a:pPr>
              <a:lnSpc>
                <a:spcPct val="150000"/>
              </a:lnSpc>
            </a:pPr>
            <a:r>
              <a:rPr lang="en-IN" dirty="0"/>
              <a:t>        ↓</a:t>
            </a:r>
          </a:p>
          <a:p>
            <a:pPr>
              <a:lnSpc>
                <a:spcPct val="150000"/>
              </a:lnSpc>
            </a:pPr>
            <a:r>
              <a:rPr lang="en-IN" dirty="0"/>
              <a:t>Quantity &lt; Minimum?</a:t>
            </a:r>
          </a:p>
          <a:p>
            <a:pPr>
              <a:lnSpc>
                <a:spcPct val="150000"/>
              </a:lnSpc>
            </a:pPr>
            <a:r>
              <a:rPr lang="en-IN" dirty="0"/>
              <a:t>        ↓ Yes</a:t>
            </a:r>
          </a:p>
          <a:p>
            <a:pPr>
              <a:lnSpc>
                <a:spcPct val="150000"/>
              </a:lnSpc>
            </a:pPr>
            <a:r>
              <a:rPr lang="en-IN" dirty="0"/>
              <a:t>Create Alert Message</a:t>
            </a:r>
          </a:p>
          <a:p>
            <a:pPr>
              <a:lnSpc>
                <a:spcPct val="150000"/>
              </a:lnSpc>
            </a:pPr>
            <a:r>
              <a:rPr lang="en-IN" dirty="0"/>
              <a:t>        ↓</a:t>
            </a:r>
          </a:p>
          <a:p>
            <a:pPr>
              <a:lnSpc>
                <a:spcPct val="150000"/>
              </a:lnSpc>
            </a:pPr>
            <a:r>
              <a:rPr lang="en-IN" dirty="0"/>
              <a:t>Alert Repository saves alert</a:t>
            </a:r>
          </a:p>
          <a:p>
            <a:pPr>
              <a:lnSpc>
                <a:spcPct val="150000"/>
              </a:lnSpc>
            </a:pPr>
            <a:r>
              <a:rPr lang="en-IN" dirty="0"/>
              <a:t>        ↓</a:t>
            </a:r>
          </a:p>
          <a:p>
            <a:pPr>
              <a:lnSpc>
                <a:spcPct val="150000"/>
              </a:lnSpc>
            </a:pPr>
            <a:r>
              <a:rPr lang="en-IN" dirty="0"/>
              <a:t>Notification Service sends Email / SMS</a:t>
            </a:r>
          </a:p>
          <a:p>
            <a:pPr>
              <a:lnSpc>
                <a:spcPct val="150000"/>
              </a:lnSpc>
            </a:pPr>
            <a:r>
              <a:rPr lang="en-IN" dirty="0"/>
              <a:t>        ↓</a:t>
            </a:r>
          </a:p>
          <a:p>
            <a:pPr>
              <a:lnSpc>
                <a:spcPct val="150000"/>
              </a:lnSpc>
            </a:pPr>
            <a:r>
              <a:rPr lang="en-IN" dirty="0"/>
              <a:t>User receives notification</a:t>
            </a:r>
          </a:p>
          <a:p>
            <a:pPr>
              <a:lnSpc>
                <a:spcPct val="150000"/>
              </a:lnSpc>
            </a:pPr>
            <a:r>
              <a:rPr lang="en-IN" dirty="0"/>
              <a:t>        ↓</a:t>
            </a:r>
          </a:p>
          <a:p>
            <a:pPr>
              <a:lnSpc>
                <a:spcPct val="150000"/>
              </a:lnSpc>
            </a:pPr>
            <a:r>
              <a:rPr lang="en-IN" dirty="0"/>
              <a:t>Alert visible on Dashboard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20C1A5-947E-EE8C-DFDA-0C8A62267611}"/>
              </a:ext>
            </a:extLst>
          </p:cNvPr>
          <p:cNvSpPr txBox="1"/>
          <p:nvPr/>
        </p:nvSpPr>
        <p:spPr>
          <a:xfrm>
            <a:off x="4473677" y="216310"/>
            <a:ext cx="3460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Flow Diagram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473926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585</Words>
  <Application>Microsoft Office PowerPoint</Application>
  <PresentationFormat>Widescreen</PresentationFormat>
  <Paragraphs>118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Keerthan Karthikeya</dc:creator>
  <cp:lastModifiedBy>Keerthan Karthikeya</cp:lastModifiedBy>
  <cp:revision>2</cp:revision>
  <dcterms:created xsi:type="dcterms:W3CDTF">2026-02-04T17:16:09Z</dcterms:created>
  <dcterms:modified xsi:type="dcterms:W3CDTF">2026-02-04T17:22:05Z</dcterms:modified>
</cp:coreProperties>
</file>