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3" r:id="rId1"/>
  </p:sldMasterIdLst>
  <p:notesMasterIdLst>
    <p:notesMasterId r:id="rId30"/>
  </p:notesMasterIdLst>
  <p:sldIdLst>
    <p:sldId id="279" r:id="rId2"/>
    <p:sldId id="278" r:id="rId3"/>
    <p:sldId id="280" r:id="rId4"/>
    <p:sldId id="281" r:id="rId5"/>
    <p:sldId id="262" r:id="rId6"/>
    <p:sldId id="290" r:id="rId7"/>
    <p:sldId id="296" r:id="rId8"/>
    <p:sldId id="264" r:id="rId9"/>
    <p:sldId id="291" r:id="rId10"/>
    <p:sldId id="297" r:id="rId11"/>
    <p:sldId id="295" r:id="rId12"/>
    <p:sldId id="298" r:id="rId13"/>
    <p:sldId id="271" r:id="rId14"/>
    <p:sldId id="282" r:id="rId15"/>
    <p:sldId id="300" r:id="rId16"/>
    <p:sldId id="292" r:id="rId17"/>
    <p:sldId id="301" r:id="rId18"/>
    <p:sldId id="283" r:id="rId19"/>
    <p:sldId id="293" r:id="rId20"/>
    <p:sldId id="302" r:id="rId21"/>
    <p:sldId id="303" r:id="rId22"/>
    <p:sldId id="284" r:id="rId23"/>
    <p:sldId id="294" r:id="rId24"/>
    <p:sldId id="304" r:id="rId25"/>
    <p:sldId id="286" r:id="rId26"/>
    <p:sldId id="305" r:id="rId27"/>
    <p:sldId id="306" r:id="rId28"/>
    <p:sldId id="30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BE02C-A189-4FD4-9445-479223C5010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34263-D5C3-4706-9A3F-D111ED552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35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170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3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9AB3A824-1A51-4B26-AD58-A6D8E14F6C04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1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5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7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79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8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590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117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061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432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890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308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98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8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0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BDD8-6380-D238-F68E-42606CE2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534" y="930441"/>
            <a:ext cx="10529075" cy="289158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 err="1"/>
              <a:t>Inventra</a:t>
            </a:r>
            <a:r>
              <a:rPr lang="en-IN" sz="6000" b="1" dirty="0"/>
              <a:t> – Intelligent Inventory Management System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A2E7B-ADE7-9A6B-D962-129A44F62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6" y="3706761"/>
            <a:ext cx="11505293" cy="1889048"/>
          </a:xfrm>
        </p:spPr>
        <p:txBody>
          <a:bodyPr>
            <a:noAutofit/>
          </a:bodyPr>
          <a:lstStyle/>
          <a:p>
            <a:pPr algn="r"/>
            <a:r>
              <a:rPr lang="en-IN" sz="2000" b="1" u="sng" dirty="0">
                <a:solidFill>
                  <a:schemeClr val="bg1"/>
                </a:solidFill>
              </a:rPr>
              <a:t>Team Members 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Srishty Shekhar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Keerthan Karthikeya </a:t>
            </a:r>
            <a:r>
              <a:rPr lang="en-IN" sz="1800" dirty="0" err="1">
                <a:solidFill>
                  <a:schemeClr val="bg1"/>
                </a:solidFill>
              </a:rPr>
              <a:t>Vaggala</a:t>
            </a:r>
            <a:endParaRPr lang="en-IN" sz="1800" dirty="0">
              <a:solidFill>
                <a:schemeClr val="bg1"/>
              </a:solidFill>
            </a:endParaRP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Prathyusha </a:t>
            </a:r>
            <a:r>
              <a:rPr lang="en-IN" sz="1800" dirty="0" err="1">
                <a:solidFill>
                  <a:schemeClr val="bg1"/>
                </a:solidFill>
              </a:rPr>
              <a:t>Yekamba</a:t>
            </a:r>
            <a:endParaRPr lang="en-IN" sz="1800" dirty="0">
              <a:solidFill>
                <a:schemeClr val="bg1"/>
              </a:solidFill>
            </a:endParaRP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Nitish Kumar Chaudhary</a:t>
            </a:r>
          </a:p>
          <a:p>
            <a:pPr algn="r"/>
            <a:r>
              <a:rPr lang="en-IN" sz="1800" dirty="0">
                <a:solidFill>
                  <a:schemeClr val="bg1"/>
                </a:solidFill>
              </a:rPr>
              <a:t>Chintala Keerthana</a:t>
            </a:r>
          </a:p>
        </p:txBody>
      </p:sp>
    </p:spTree>
    <p:extLst>
      <p:ext uri="{BB962C8B-B14F-4D97-AF65-F5344CB8AC3E}">
        <p14:creationId xmlns:p14="http://schemas.microsoft.com/office/powerpoint/2010/main" val="306093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FBAD-C9D4-A8EB-7055-B3CC3C58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b="1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9598-A567-D06E-A3B9-34334981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2603500"/>
            <a:ext cx="11090787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Inventra</a:t>
            </a:r>
            <a:r>
              <a:rPr lang="en-US" sz="2000" dirty="0"/>
              <a:t> is an enterprise-level </a:t>
            </a:r>
            <a:r>
              <a:rPr lang="en-US" sz="2000" b="1" dirty="0"/>
              <a:t>Intelligent Inventory Management System</a:t>
            </a:r>
            <a:r>
              <a:rPr lang="en-US" sz="2000" dirty="0"/>
              <a:t> designed to automate inventory tracking, monitor stock levels in real time, and generate alerts when inventory falls below predefined thresholds. The system helps organizations reduce manual errors, avoid stock-outs, and improve operational efficiency through data-driven insights.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064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ED57-6C41-1E43-6151-27A82C6B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11" y="364404"/>
            <a:ext cx="9692640" cy="182819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571FD-8C6C-3A68-DB66-B009B1CD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12" y="2613332"/>
            <a:ext cx="10955218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Traditional inventory management systems face several challenges:-</a:t>
            </a:r>
          </a:p>
          <a:p>
            <a:r>
              <a:rPr lang="en-US" sz="2400" dirty="0"/>
              <a:t>Manual tracking leads to errors and inconsistencies</a:t>
            </a:r>
          </a:p>
          <a:p>
            <a:r>
              <a:rPr lang="en-US" sz="2400" dirty="0"/>
              <a:t>Lack of real-time stock monitoring</a:t>
            </a:r>
          </a:p>
          <a:p>
            <a:r>
              <a:rPr lang="en-US" sz="2400" dirty="0"/>
              <a:t>No automated alert mechanism for low stock</a:t>
            </a:r>
          </a:p>
          <a:p>
            <a:r>
              <a:rPr lang="en-US" sz="2400" dirty="0"/>
              <a:t>Time-consuming report generation</a:t>
            </a:r>
          </a:p>
          <a:p>
            <a:r>
              <a:rPr lang="en-US" sz="2400" dirty="0"/>
              <a:t>Inefficient decision-making due to limited analytics</a:t>
            </a:r>
          </a:p>
        </p:txBody>
      </p:sp>
    </p:spTree>
    <p:extLst>
      <p:ext uri="{BB962C8B-B14F-4D97-AF65-F5344CB8AC3E}">
        <p14:creationId xmlns:p14="http://schemas.microsoft.com/office/powerpoint/2010/main" val="226567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B74-89BF-3A6F-D4F5-26AE9F7A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9"/>
            <a:ext cx="9424556" cy="111077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B0D2-19B3-3D31-B6E8-212DB1ED0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2603500"/>
            <a:ext cx="10717162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Inventor addresses these challenges by:-</a:t>
            </a:r>
          </a:p>
          <a:p>
            <a:r>
              <a:rPr lang="en-US" sz="2400" b="1" dirty="0"/>
              <a:t>Automating</a:t>
            </a:r>
            <a:r>
              <a:rPr lang="en-US" sz="2400" dirty="0"/>
              <a:t> inventory tracking</a:t>
            </a:r>
          </a:p>
          <a:p>
            <a:r>
              <a:rPr lang="en-US" sz="2400" dirty="0"/>
              <a:t>Providing </a:t>
            </a:r>
            <a:r>
              <a:rPr lang="en-US" sz="2400" b="1" dirty="0"/>
              <a:t>real-time</a:t>
            </a:r>
            <a:r>
              <a:rPr lang="en-US" sz="2400" dirty="0"/>
              <a:t> stock monitoring</a:t>
            </a:r>
          </a:p>
          <a:p>
            <a:r>
              <a:rPr lang="en-US" sz="2400" dirty="0"/>
              <a:t>Generating </a:t>
            </a:r>
            <a:r>
              <a:rPr lang="en-US" sz="2400" b="1" dirty="0"/>
              <a:t>low-stock</a:t>
            </a:r>
            <a:r>
              <a:rPr lang="en-US" sz="2400" dirty="0"/>
              <a:t> </a:t>
            </a:r>
            <a:r>
              <a:rPr lang="en-US" sz="2400" b="1" dirty="0"/>
              <a:t>alerts</a:t>
            </a:r>
            <a:r>
              <a:rPr lang="en-US" sz="2400" dirty="0"/>
              <a:t> automatically</a:t>
            </a:r>
          </a:p>
          <a:p>
            <a:r>
              <a:rPr lang="en-US" sz="2400" dirty="0"/>
              <a:t>Offering </a:t>
            </a:r>
            <a:r>
              <a:rPr lang="en-US" sz="2400" b="1" dirty="0"/>
              <a:t>detailed reports and analytics</a:t>
            </a:r>
          </a:p>
          <a:p>
            <a:r>
              <a:rPr lang="en-US" sz="2400" dirty="0"/>
              <a:t>Ensuring </a:t>
            </a:r>
            <a:r>
              <a:rPr lang="en-US" sz="2400" b="1" dirty="0"/>
              <a:t>secure access</a:t>
            </a:r>
            <a:r>
              <a:rPr lang="en-US" sz="2400" dirty="0"/>
              <a:t> using </a:t>
            </a:r>
            <a:r>
              <a:rPr lang="en-US" sz="2400" b="1" dirty="0"/>
              <a:t>authentication</a:t>
            </a:r>
          </a:p>
          <a:p>
            <a:r>
              <a:rPr lang="en-US" sz="2400" dirty="0"/>
              <a:t>Reducing human errors and </a:t>
            </a:r>
            <a:r>
              <a:rPr lang="en-US" sz="2400" b="1" dirty="0"/>
              <a:t>improving efficiency</a:t>
            </a:r>
          </a:p>
        </p:txBody>
      </p:sp>
    </p:spTree>
    <p:extLst>
      <p:ext uri="{BB962C8B-B14F-4D97-AF65-F5344CB8AC3E}">
        <p14:creationId xmlns:p14="http://schemas.microsoft.com/office/powerpoint/2010/main" val="269306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6065-520F-E7A4-FDCF-1A8E2621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018" y="641063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AB9F-2085-BE5D-D8F6-53C1AFFD3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49" y="2431846"/>
            <a:ext cx="11032885" cy="34970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Front-End:</a:t>
            </a:r>
            <a:r>
              <a:rPr lang="en-IN" sz="2800" dirty="0">
                <a:cs typeface="Arial" panose="020B0604020202020204" pitchFamily="34" charset="0"/>
              </a:rPr>
              <a:t> HTML, CSS, JavaScript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Back-End:</a:t>
            </a:r>
            <a:r>
              <a:rPr lang="en-IN" sz="2800" dirty="0">
                <a:cs typeface="Arial" panose="020B0604020202020204" pitchFamily="34" charset="0"/>
              </a:rPr>
              <a:t> Java (JDK 8/11)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Frameworks:</a:t>
            </a:r>
            <a:r>
              <a:rPr lang="en-IN" sz="2800" dirty="0">
                <a:cs typeface="Arial" panose="020B0604020202020204" pitchFamily="34" charset="0"/>
              </a:rPr>
              <a:t> spring Boot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Database:</a:t>
            </a:r>
            <a:r>
              <a:rPr lang="en-IN" sz="2800" dirty="0">
                <a:cs typeface="Arial" panose="020B0604020202020204" pitchFamily="34" charset="0"/>
              </a:rPr>
              <a:t> MySQL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Tools:</a:t>
            </a:r>
            <a:r>
              <a:rPr lang="en-IN" sz="2800" dirty="0">
                <a:cs typeface="Arial" panose="020B0604020202020204" pitchFamily="34" charset="0"/>
              </a:rPr>
              <a:t> VS Code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User</a:t>
            </a:r>
            <a:r>
              <a:rPr lang="en-IN" sz="2800" b="1" dirty="0">
                <a:cs typeface="Arial" panose="020B0604020202020204" pitchFamily="34" charset="0"/>
              </a:rPr>
              <a:t> → Frontend → Backend →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Database</a:t>
            </a:r>
            <a:r>
              <a:rPr lang="en-IN" sz="2800" b="1" dirty="0">
                <a:cs typeface="Arial" panose="020B0604020202020204" pitchFamily="34" charset="0"/>
              </a:rPr>
              <a:t> → Alerts / Reports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8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BE824-CEC3-18E2-0793-CB4BCB43F188}"/>
              </a:ext>
            </a:extLst>
          </p:cNvPr>
          <p:cNvSpPr/>
          <p:nvPr/>
        </p:nvSpPr>
        <p:spPr>
          <a:xfrm>
            <a:off x="580103" y="639097"/>
            <a:ext cx="2900516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USER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(Admin / Staff)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F94946-9D03-6F53-8DCF-475AAC0DD088}"/>
              </a:ext>
            </a:extLst>
          </p:cNvPr>
          <p:cNvSpPr/>
          <p:nvPr/>
        </p:nvSpPr>
        <p:spPr>
          <a:xfrm>
            <a:off x="4940710" y="639097"/>
            <a:ext cx="2664542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FRONT-END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HTML, CSS, JS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(User Interface)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88AB5-7613-7B2F-3E43-2EED22D19BA3}"/>
              </a:ext>
            </a:extLst>
          </p:cNvPr>
          <p:cNvSpPr/>
          <p:nvPr/>
        </p:nvSpPr>
        <p:spPr>
          <a:xfrm>
            <a:off x="4938251" y="3936393"/>
            <a:ext cx="2664542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BACK-END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Java (JDBC)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Authentication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Inventory Logic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Alerts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B541F62-3C68-8AEB-AB4F-CC1C436AFB15}"/>
              </a:ext>
            </a:extLst>
          </p:cNvPr>
          <p:cNvSpPr/>
          <p:nvPr/>
        </p:nvSpPr>
        <p:spPr>
          <a:xfrm>
            <a:off x="3893574" y="1533831"/>
            <a:ext cx="521110" cy="3244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FD6A6EB-5795-D369-036C-5D71C176D810}"/>
              </a:ext>
            </a:extLst>
          </p:cNvPr>
          <p:cNvSpPr/>
          <p:nvPr/>
        </p:nvSpPr>
        <p:spPr>
          <a:xfrm>
            <a:off x="6001168" y="3023420"/>
            <a:ext cx="484632" cy="65876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E7C7C73-1E26-668F-0209-D1B9F63739F5}"/>
              </a:ext>
            </a:extLst>
          </p:cNvPr>
          <p:cNvSpPr/>
          <p:nvPr/>
        </p:nvSpPr>
        <p:spPr>
          <a:xfrm>
            <a:off x="8137422" y="4716632"/>
            <a:ext cx="540774" cy="4846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A22B4-0E27-98BC-D385-33777A568ACE}"/>
              </a:ext>
            </a:extLst>
          </p:cNvPr>
          <p:cNvSpPr/>
          <p:nvPr/>
        </p:nvSpPr>
        <p:spPr>
          <a:xfrm>
            <a:off x="9094839" y="3936393"/>
            <a:ext cx="2576051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DATABASE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MySQL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Users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Products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Stock Details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5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8142-7E48-972B-F605-EDB4286AA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960" y="1198811"/>
            <a:ext cx="6014988" cy="55209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307EB7-07D6-450C-E0DD-66BC7A1B5553}"/>
              </a:ext>
            </a:extLst>
          </p:cNvPr>
          <p:cNvSpPr txBox="1"/>
          <p:nvPr/>
        </p:nvSpPr>
        <p:spPr>
          <a:xfrm>
            <a:off x="4247536" y="138227"/>
            <a:ext cx="5143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System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D9BBF-3E2E-E38F-87D2-0AFD90E74283}"/>
              </a:ext>
            </a:extLst>
          </p:cNvPr>
          <p:cNvSpPr txBox="1"/>
          <p:nvPr/>
        </p:nvSpPr>
        <p:spPr>
          <a:xfrm>
            <a:off x="422787" y="605881"/>
            <a:ext cx="4056854" cy="502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b="1" dirty="0"/>
              <a:t>The Intelligent Inventory Management System consists of four key modules: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Authentication:</a:t>
            </a:r>
            <a:r>
              <a:rPr lang="en-US" dirty="0"/>
              <a:t> Manages user access and security.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Product Management &amp; Stock Tracking:</a:t>
            </a:r>
            <a:r>
              <a:rPr lang="en-US" dirty="0"/>
              <a:t> Handles product information and tracks inventory levels.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Alerts:</a:t>
            </a:r>
            <a:r>
              <a:rPr lang="en-US" dirty="0"/>
              <a:t> Sends notifications based on predefined rules and thresholds.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Reports &amp; Analysis:</a:t>
            </a:r>
            <a:r>
              <a:rPr lang="en-US" dirty="0"/>
              <a:t> Generates reports and provides insights into inventory data.</a:t>
            </a:r>
          </a:p>
        </p:txBody>
      </p:sp>
    </p:spTree>
    <p:extLst>
      <p:ext uri="{BB962C8B-B14F-4D97-AF65-F5344CB8AC3E}">
        <p14:creationId xmlns:p14="http://schemas.microsoft.com/office/powerpoint/2010/main" val="51545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E9B0-96E8-F38B-B42F-6BEB56E9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07" y="553928"/>
            <a:ext cx="9692640" cy="15050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Module 1 </a:t>
            </a:r>
            <a:br>
              <a:rPr lang="en-IN" sz="5400" b="1" dirty="0"/>
            </a:br>
            <a:r>
              <a:rPr lang="en-IN" sz="5400" b="1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E85E-5DD9-F18B-625D-878F36E8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007" y="2456030"/>
            <a:ext cx="10992464" cy="3627425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2400" dirty="0"/>
              <a:t>Handles secure user login and logout functionality</a:t>
            </a:r>
          </a:p>
          <a:p>
            <a:r>
              <a:rPr lang="en-US" sz="2400" dirty="0"/>
              <a:t> Validates user credentials against stored data</a:t>
            </a:r>
          </a:p>
          <a:p>
            <a:r>
              <a:rPr lang="en-US" sz="2400" dirty="0"/>
              <a:t> Ensures authorized access to the system</a:t>
            </a:r>
          </a:p>
          <a:p>
            <a:r>
              <a:rPr lang="en-US" sz="2400" dirty="0"/>
              <a:t> Prevents unauthorized users from accessing inventory data</a:t>
            </a:r>
          </a:p>
          <a:p>
            <a:r>
              <a:rPr lang="en-US" sz="2400" dirty="0"/>
              <a:t> Maintains session control for logged-in users</a:t>
            </a:r>
          </a:p>
          <a:p>
            <a:r>
              <a:rPr lang="en-US" sz="2400" dirty="0"/>
              <a:t>Uses role-based access (Admin/User)</a:t>
            </a:r>
          </a:p>
        </p:txBody>
      </p:sp>
    </p:spTree>
    <p:extLst>
      <p:ext uri="{BB962C8B-B14F-4D97-AF65-F5344CB8AC3E}">
        <p14:creationId xmlns:p14="http://schemas.microsoft.com/office/powerpoint/2010/main" val="275969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959C-0511-A983-41DD-D66C7DBA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08000"/>
            <a:ext cx="8825659" cy="1625599"/>
          </a:xfrm>
        </p:spPr>
        <p:txBody>
          <a:bodyPr/>
          <a:lstStyle/>
          <a:p>
            <a:pPr algn="ctr"/>
            <a:r>
              <a:rPr lang="en-IN" sz="4900" b="1" dirty="0"/>
              <a:t>Module 1 </a:t>
            </a:r>
            <a:br>
              <a:rPr lang="en-IN" sz="4900" b="1" dirty="0"/>
            </a:br>
            <a:r>
              <a:rPr lang="en-IN" sz="4900" b="1" dirty="0"/>
              <a:t>Authentication</a:t>
            </a:r>
            <a:endParaRPr lang="en-IN" sz="4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CFB7-87A1-A89A-5CB2-62DBD3DA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" y="2369574"/>
            <a:ext cx="10742653" cy="39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Input:</a:t>
            </a:r>
            <a:endParaRPr lang="en-IN" dirty="0"/>
          </a:p>
          <a:p>
            <a:r>
              <a:rPr lang="en-IN" dirty="0"/>
              <a:t>Username and password entered by user</a:t>
            </a:r>
          </a:p>
          <a:p>
            <a:pPr marL="0" indent="0">
              <a:buNone/>
            </a:pPr>
            <a:r>
              <a:rPr lang="en-IN" b="1" dirty="0"/>
              <a:t>Process:</a:t>
            </a:r>
            <a:endParaRPr lang="en-IN" dirty="0"/>
          </a:p>
          <a:p>
            <a:r>
              <a:rPr lang="en-IN" dirty="0"/>
              <a:t>Validates credentials against database</a:t>
            </a:r>
          </a:p>
          <a:p>
            <a:r>
              <a:rPr lang="en-IN" dirty="0"/>
              <a:t>Verifies user role (Admin / Staff)</a:t>
            </a:r>
          </a:p>
          <a:p>
            <a:r>
              <a:rPr lang="en-IN" dirty="0"/>
              <a:t>Creates and manages user session</a:t>
            </a:r>
          </a:p>
          <a:p>
            <a:pPr marL="0" indent="0">
              <a:buNone/>
            </a:pPr>
            <a:r>
              <a:rPr lang="en-IN" b="1" dirty="0"/>
              <a:t>Output:</a:t>
            </a:r>
            <a:endParaRPr lang="en-IN" dirty="0"/>
          </a:p>
          <a:p>
            <a:r>
              <a:rPr lang="en-IN" dirty="0"/>
              <a:t>Secure login access</a:t>
            </a:r>
          </a:p>
          <a:p>
            <a:r>
              <a:rPr lang="en-IN" dirty="0"/>
              <a:t>Role-based dashboard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71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F1E3-2C21-7CD1-5FE1-E9348384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B49E5-0ACD-E5C6-8356-F65281DD988A}"/>
              </a:ext>
            </a:extLst>
          </p:cNvPr>
          <p:cNvSpPr txBox="1"/>
          <p:nvPr/>
        </p:nvSpPr>
        <p:spPr>
          <a:xfrm>
            <a:off x="943896" y="2348114"/>
            <a:ext cx="8825658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Classes: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dirty="0"/>
              <a:t>: Handles authentication-related HTTP requests.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dirty="0"/>
              <a:t>: Implements the authentication logic.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dirty="0"/>
              <a:t>: Interacts with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User</a:t>
            </a:r>
            <a:r>
              <a:rPr lang="en-US" b="1" dirty="0"/>
              <a:t>: </a:t>
            </a:r>
            <a:r>
              <a:rPr lang="en-US" dirty="0"/>
              <a:t>Represents a user in the system (database entity).</a:t>
            </a:r>
          </a:p>
        </p:txBody>
      </p:sp>
    </p:spTree>
    <p:extLst>
      <p:ext uri="{BB962C8B-B14F-4D97-AF65-F5344CB8AC3E}">
        <p14:creationId xmlns:p14="http://schemas.microsoft.com/office/powerpoint/2010/main" val="224984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BA4F-1F49-5F4C-632A-B1ED586F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flow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A1E76-E5F4-6427-3B68-6E97B5AE0F7B}"/>
              </a:ext>
            </a:extLst>
          </p:cNvPr>
          <p:cNvSpPr txBox="1"/>
          <p:nvPr/>
        </p:nvSpPr>
        <p:spPr>
          <a:xfrm>
            <a:off x="707922" y="2303059"/>
            <a:ext cx="11238272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Process: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enters credentials (username/password).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receives the request.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to validate the credentials.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to retrieve user data from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queries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compares the entered credentials with the data from the database.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returns the token to the user.</a:t>
            </a:r>
          </a:p>
        </p:txBody>
      </p:sp>
    </p:spTree>
    <p:extLst>
      <p:ext uri="{BB962C8B-B14F-4D97-AF65-F5344CB8AC3E}">
        <p14:creationId xmlns:p14="http://schemas.microsoft.com/office/powerpoint/2010/main" val="313516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3565-EC9C-63DF-2822-847B68D0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9507C-115D-930C-34C9-851C8019F7A6}"/>
              </a:ext>
            </a:extLst>
          </p:cNvPr>
          <p:cNvSpPr txBox="1"/>
          <p:nvPr/>
        </p:nvSpPr>
        <p:spPr>
          <a:xfrm>
            <a:off x="975164" y="2655968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Signup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Repository → Database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56224-6500-DC50-BF0E-7F722257D8C9}"/>
              </a:ext>
            </a:extLst>
          </p:cNvPr>
          <p:cNvSpPr txBox="1"/>
          <p:nvPr/>
        </p:nvSpPr>
        <p:spPr>
          <a:xfrm>
            <a:off x="975164" y="3789744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 in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JWT Token → UI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AC24E-7D49-BA2A-23DB-A76F03116879}"/>
              </a:ext>
            </a:extLst>
          </p:cNvPr>
          <p:cNvSpPr txBox="1"/>
          <p:nvPr/>
        </p:nvSpPr>
        <p:spPr>
          <a:xfrm>
            <a:off x="975164" y="5004618"/>
            <a:ext cx="6096000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Forgot Password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Email Service → User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EFF32-1F3C-29B5-7245-565F26FB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05" y="2426911"/>
            <a:ext cx="4511460" cy="42717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79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048D-90C7-F6DD-ED8A-A2CF391B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23" y="794400"/>
            <a:ext cx="9692640" cy="9911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Authentication</a:t>
            </a:r>
            <a:br>
              <a:rPr lang="en-IN" sz="5400" b="1" dirty="0"/>
            </a:br>
            <a:r>
              <a:rPr lang="en-IN" sz="5400" b="1" dirty="0"/>
              <a:t> Database Schema</a:t>
            </a:r>
            <a:endParaRPr lang="en-IN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C24066-BBD6-3B9B-3629-8C3C71A9C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70957"/>
              </p:ext>
            </p:extLst>
          </p:nvPr>
        </p:nvGraphicFramePr>
        <p:xfrm>
          <a:off x="1230999" y="2497394"/>
          <a:ext cx="9692640" cy="37398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2388820753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422415735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732771792"/>
                    </a:ext>
                  </a:extLst>
                </a:gridCol>
              </a:tblGrid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76977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UserId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0042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784099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Email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65939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Encrypted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0641"/>
                  </a:ext>
                </a:extLst>
              </a:tr>
              <a:tr h="58755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Authorization/Permissions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0544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Automatically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25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26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3E8-7924-852D-47B4-E6CC3348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23718"/>
            <a:ext cx="9692640" cy="174105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Module 2 </a:t>
            </a:r>
            <a:br>
              <a:rPr lang="en-IN" sz="4400" b="1" dirty="0"/>
            </a:br>
            <a:r>
              <a:rPr lang="en-IN" sz="4400" b="1" dirty="0"/>
              <a:t>Product / 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1F11-E07E-ED84-5A61-11356FD0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528586"/>
            <a:ext cx="10220239" cy="3144627"/>
          </a:xfrm>
        </p:spPr>
        <p:txBody>
          <a:bodyPr>
            <a:normAutofit/>
          </a:bodyPr>
          <a:lstStyle/>
          <a:p>
            <a:r>
              <a:rPr lang="en-US" sz="2400" dirty="0"/>
              <a:t>Allows users to add new products with details such as name, category, quantity, and price</a:t>
            </a:r>
          </a:p>
          <a:p>
            <a:r>
              <a:rPr lang="en-US" sz="2400" dirty="0"/>
              <a:t>Enables updating and deleting existing product records</a:t>
            </a:r>
          </a:p>
          <a:p>
            <a:r>
              <a:rPr lang="en-US" sz="2400" dirty="0"/>
              <a:t>Maintains real-time stock information</a:t>
            </a:r>
          </a:p>
          <a:p>
            <a:r>
              <a:rPr lang="en-US" sz="2400" dirty="0"/>
              <a:t>Ensures data consistency across inventory operations</a:t>
            </a:r>
          </a:p>
          <a:p>
            <a:r>
              <a:rPr lang="en-US" sz="2400" dirty="0"/>
              <a:t>Supports efficient management of product lifecycle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849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D9BD-606F-68A1-37CA-62E05CCF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endParaRPr lang="en-IN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89A4263B-1A3C-22B3-594D-ED033EA2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2475224"/>
            <a:ext cx="10081845" cy="420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1782-9020-CB84-40B5-DF8C0CE4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20890"/>
            <a:ext cx="8825659" cy="1320800"/>
          </a:xfrm>
        </p:spPr>
        <p:txBody>
          <a:bodyPr/>
          <a:lstStyle/>
          <a:p>
            <a:pPr algn="ctr"/>
            <a:r>
              <a:rPr lang="en-IN" sz="4000" b="1" dirty="0"/>
              <a:t>Module 2 </a:t>
            </a:r>
            <a:br>
              <a:rPr lang="en-IN" sz="4000" b="1" dirty="0"/>
            </a:br>
            <a:r>
              <a:rPr lang="en-IN" sz="4000" b="1" dirty="0"/>
              <a:t>Product / Inventory Management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5F3C-CCD7-404D-A42A-4EF2F4F2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771" y="2218266"/>
            <a:ext cx="10393579" cy="4018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Input:</a:t>
            </a:r>
            <a:endParaRPr lang="en-IN" sz="2000" dirty="0"/>
          </a:p>
          <a:p>
            <a:r>
              <a:rPr lang="en-IN" sz="2000" dirty="0"/>
              <a:t>Product details (name, category, quantity, price)</a:t>
            </a:r>
          </a:p>
          <a:p>
            <a:r>
              <a:rPr lang="en-IN" sz="2000" dirty="0"/>
              <a:t>Update or delete requests</a:t>
            </a:r>
          </a:p>
          <a:p>
            <a:pPr marL="0" indent="0">
              <a:buNone/>
            </a:pPr>
            <a:r>
              <a:rPr lang="en-IN" sz="2000" b="1" dirty="0"/>
              <a:t>Process:</a:t>
            </a:r>
            <a:endParaRPr lang="en-IN" sz="2000" dirty="0"/>
          </a:p>
          <a:p>
            <a:r>
              <a:rPr lang="en-IN" sz="2000" dirty="0"/>
              <a:t>Stores and updates product data in database</a:t>
            </a:r>
          </a:p>
          <a:p>
            <a:r>
              <a:rPr lang="en-IN" sz="2000" dirty="0"/>
              <a:t>Maintains real-time stock information</a:t>
            </a:r>
          </a:p>
          <a:p>
            <a:r>
              <a:rPr lang="en-IN" sz="2000" dirty="0"/>
              <a:t>Ensures data consistency</a:t>
            </a:r>
          </a:p>
          <a:p>
            <a:pPr marL="0" indent="0">
              <a:buNone/>
            </a:pPr>
            <a:r>
              <a:rPr lang="en-IN" sz="2000" b="1" dirty="0"/>
              <a:t>Output:</a:t>
            </a:r>
            <a:endParaRPr lang="en-IN" sz="2000" dirty="0"/>
          </a:p>
          <a:p>
            <a:r>
              <a:rPr lang="en-IN" sz="2000" dirty="0"/>
              <a:t>Updated inventory records</a:t>
            </a:r>
          </a:p>
          <a:p>
            <a:r>
              <a:rPr lang="en-IN" sz="2000" dirty="0"/>
              <a:t>Accurate stock availability displayed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615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F69A-2B49-DC18-D4E4-7BD784D7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30725-A93D-F8CE-7018-7E823340B452}"/>
              </a:ext>
            </a:extLst>
          </p:cNvPr>
          <p:cNvSpPr txBox="1"/>
          <p:nvPr/>
        </p:nvSpPr>
        <p:spPr>
          <a:xfrm>
            <a:off x="344128" y="2758313"/>
            <a:ext cx="6636775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Main Classes in this Module is  :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 class : </a:t>
            </a:r>
            <a:r>
              <a:rPr lang="en-US" dirty="0"/>
              <a:t>Represents product details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Controller  : give request to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Service  : business logic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Repository : communicate with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E9B9A-4B01-CD5E-2565-5D7D22641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84" y="2341476"/>
            <a:ext cx="4866969" cy="45165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687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2C21-6D02-2160-79CF-DE61473B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b="1" dirty="0"/>
              <a:t>Module 3</a:t>
            </a:r>
            <a:br>
              <a:rPr lang="en-IN" sz="4800" b="1" dirty="0"/>
            </a:br>
            <a:r>
              <a:rPr lang="en-IN" sz="4800" b="1" dirty="0"/>
              <a:t>Inventory / Alerts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8382-E0A2-D239-6350-E6DF45ADE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Continuously monitors inventory levels in real time</a:t>
            </a:r>
          </a:p>
          <a:p>
            <a:r>
              <a:rPr lang="en-US" sz="2400" dirty="0"/>
              <a:t>Compares current stock against predefined threshold values</a:t>
            </a:r>
          </a:p>
          <a:p>
            <a:r>
              <a:rPr lang="en-US" sz="2400" dirty="0"/>
              <a:t>Automatically triggers alerts when stock reaches critical levels</a:t>
            </a:r>
          </a:p>
          <a:p>
            <a:r>
              <a:rPr lang="en-US" sz="2400" dirty="0"/>
              <a:t>Notifies users to take timely replenishment actions</a:t>
            </a:r>
          </a:p>
          <a:p>
            <a:r>
              <a:rPr lang="en-US" sz="2400" dirty="0"/>
              <a:t>Helps minimize stock-out risks and operational delays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599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72B0-29FB-F942-CAFA-2A2811EF5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96711"/>
            <a:ext cx="8825659" cy="1749777"/>
          </a:xfrm>
        </p:spPr>
        <p:txBody>
          <a:bodyPr/>
          <a:lstStyle/>
          <a:p>
            <a:pPr algn="ctr"/>
            <a:r>
              <a:rPr lang="en-IN" sz="4400" b="1" dirty="0"/>
              <a:t>Module 3</a:t>
            </a:r>
            <a:br>
              <a:rPr lang="en-IN" sz="4400" b="1" dirty="0"/>
            </a:br>
            <a:r>
              <a:rPr lang="en-IN" sz="4400" b="1" dirty="0"/>
              <a:t>Inventory / Alerts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757A-023D-9192-8810-D4A45C43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10" y="2322735"/>
            <a:ext cx="10291979" cy="3842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Current stock levels</a:t>
            </a:r>
          </a:p>
          <a:p>
            <a:r>
              <a:rPr lang="en-US" sz="2000" dirty="0"/>
              <a:t>Predefined threshold values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Continuously monitors stock quantities</a:t>
            </a:r>
          </a:p>
          <a:p>
            <a:r>
              <a:rPr lang="en-US" sz="2000" dirty="0"/>
              <a:t>Compares stock with threshold limits</a:t>
            </a:r>
          </a:p>
          <a:p>
            <a:r>
              <a:rPr lang="en-US" sz="2000" dirty="0"/>
              <a:t>Triggers alert conditions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Low-stock alerts generated</a:t>
            </a:r>
          </a:p>
          <a:p>
            <a:r>
              <a:rPr lang="en-US" sz="2000" dirty="0"/>
              <a:t>Notifications for timely replenishment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45116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8BA4-46AC-53CE-47F9-2677D1FA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1223-24A0-77A0-5C2A-39A5198FC55D}"/>
              </a:ext>
            </a:extLst>
          </p:cNvPr>
          <p:cNvSpPr txBox="1"/>
          <p:nvPr/>
        </p:nvSpPr>
        <p:spPr>
          <a:xfrm>
            <a:off x="471947" y="2533720"/>
            <a:ext cx="114742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fundamental object representing an inventory item, containing the current stock and the threshold that triggers alerts.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concrete record created by the system when a threshold is breached, detailing the issue, the product, and the status.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Controller: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external user requests (e.g., viewing or closing alerts) and routes them to the service layer.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Executes the core business logic, constantly monitoring products, generating new alerts, and managing alert statuses.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Repository: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all data interactions, specifically saving, retrieving, and updating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records in the database.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83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F35F-A526-02D9-61F9-ABC4C108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0EF53-C798-D034-8887-2B3A8F180655}"/>
              </a:ext>
            </a:extLst>
          </p:cNvPr>
          <p:cNvSpPr txBox="1"/>
          <p:nvPr/>
        </p:nvSpPr>
        <p:spPr>
          <a:xfrm>
            <a:off x="7909173" y="2823878"/>
            <a:ext cx="35258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</a:t>
            </a:r>
            <a:r>
              <a:rPr lang="en-US" sz="1800" dirty="0">
                <a:latin typeface="+mj-lt"/>
              </a:rPr>
              <a:t>lert service----product repository----checks quantity &lt; reorder level</a:t>
            </a:r>
          </a:p>
          <a:p>
            <a:endParaRPr lang="en-US" sz="1800" dirty="0"/>
          </a:p>
          <a:p>
            <a:r>
              <a:rPr lang="en-IN" dirty="0">
                <a:latin typeface="+mj-lt"/>
              </a:rPr>
              <a:t>A</a:t>
            </a:r>
            <a:r>
              <a:rPr lang="en-IN" sz="1800" dirty="0">
                <a:latin typeface="+mj-lt"/>
              </a:rPr>
              <a:t>lert service ----Alert repository-----creates alert</a:t>
            </a:r>
          </a:p>
          <a:p>
            <a:endParaRPr lang="en-IN" dirty="0"/>
          </a:p>
          <a:p>
            <a:r>
              <a:rPr lang="en-IN" sz="1800" dirty="0">
                <a:latin typeface="+mj-lt"/>
              </a:rPr>
              <a:t>Alert controller----shows alert to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E34A7-A430-A089-63D4-59800F6DF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75" y="2434600"/>
            <a:ext cx="6705686" cy="43474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781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080C-E8F0-4CF9-50BE-97602B82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70272"/>
            <a:ext cx="8825659" cy="1484670"/>
          </a:xfrm>
        </p:spPr>
        <p:txBody>
          <a:bodyPr/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D5DB-003E-372E-453E-27BD0BDE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Generates detailed inventory reports</a:t>
            </a:r>
          </a:p>
          <a:p>
            <a:r>
              <a:rPr lang="en-US" sz="2400" dirty="0"/>
              <a:t>Provides insights into stock availability and usage patterns</a:t>
            </a:r>
          </a:p>
          <a:p>
            <a:r>
              <a:rPr lang="en-US" sz="2400" dirty="0"/>
              <a:t>Supports analysis of inventory trends over time</a:t>
            </a:r>
          </a:p>
          <a:p>
            <a:r>
              <a:rPr lang="en-US" sz="2400" dirty="0"/>
              <a:t>Helps management in data-driven decision making</a:t>
            </a:r>
          </a:p>
          <a:p>
            <a:r>
              <a:rPr lang="en-US" sz="2400" dirty="0"/>
              <a:t>Improves planning and inventory optimization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074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1FE5-88E4-6802-D3C2-482782DB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82C3-1938-6032-5C80-80867E6B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50024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Inventory and transaction data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Analyzes stock usage and trends</a:t>
            </a:r>
          </a:p>
          <a:p>
            <a:r>
              <a:rPr lang="en-US" sz="2000" dirty="0"/>
              <a:t>Generates reports and summaries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Inventory reports</a:t>
            </a:r>
          </a:p>
          <a:p>
            <a:r>
              <a:rPr lang="en-US" sz="2000" dirty="0"/>
              <a:t>Analytical insights for decision-making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0162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1157-DC10-699E-6526-9ED9CAA1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97FEB-E13E-E56D-17BF-CFD8E7C2E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58" y="2566853"/>
            <a:ext cx="7677083" cy="38131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5710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00B2-5BC1-9868-9C4E-ED1116DD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500" y="688258"/>
            <a:ext cx="8825659" cy="1415845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AA3F-B246-1DDF-B78F-F79D4FF3B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603500"/>
            <a:ext cx="10992464" cy="3416300"/>
          </a:xfrm>
        </p:spPr>
        <p:txBody>
          <a:bodyPr>
            <a:normAutofit/>
          </a:bodyPr>
          <a:lstStyle/>
          <a:p>
            <a:r>
              <a:rPr lang="en-US" sz="2600" dirty="0" err="1"/>
              <a:t>Inventra</a:t>
            </a:r>
            <a:r>
              <a:rPr lang="en-US" sz="2600" dirty="0"/>
              <a:t> simplifies inventory management and reporting.</a:t>
            </a:r>
          </a:p>
          <a:p>
            <a:r>
              <a:rPr lang="en-US" sz="2600" dirty="0"/>
              <a:t>Reduces human errors and improves decision-making.</a:t>
            </a:r>
          </a:p>
          <a:p>
            <a:r>
              <a:rPr lang="en-US" sz="2600" dirty="0"/>
              <a:t>Scalable solution for businesses of all sizes.</a:t>
            </a:r>
          </a:p>
          <a:p>
            <a:r>
              <a:rPr lang="en-US" sz="2600" dirty="0"/>
              <a:t>Future scope: Integration with AI for predictive stock management.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00276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F21A6-B7FA-9995-0596-B62F0F08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979FD-A29A-E013-3C5A-331411A2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3" y="52541"/>
            <a:ext cx="5909187" cy="3323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3D4DE0-71B2-4854-D361-465406A3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174" y="3558968"/>
            <a:ext cx="642046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40991-3FD3-284D-ACCB-147752D7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742039" cy="3268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1CF44-C4D6-9AC5-9DA3-D73851AB8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42039" cy="3229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A4BC5-9947-D695-0767-46B2D1566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134" y="0"/>
            <a:ext cx="5810866" cy="3268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7E4D1-E9F8-E2F6-A2A5-0DC362A1D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134" y="3589389"/>
            <a:ext cx="5810866" cy="32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6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027C3-DCCB-2727-F40C-6E0F31D30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5757"/>
            <a:ext cx="5594556" cy="3146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3EE36-E32C-CBEE-7434-E66DB8FB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3E817-37AE-C977-F0A2-0BA61410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306"/>
            <a:ext cx="5899356" cy="3373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F49A2-F84E-A9E3-9142-C4AA0956D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8430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39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458</TotalTime>
  <Words>1003</Words>
  <Application>Microsoft Office PowerPoint</Application>
  <PresentationFormat>Widescreen</PresentationFormat>
  <Paragraphs>195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Unicode MS</vt:lpstr>
      <vt:lpstr>Calibri</vt:lpstr>
      <vt:lpstr>Century Gothic</vt:lpstr>
      <vt:lpstr>Courier New</vt:lpstr>
      <vt:lpstr>Times New Roman</vt:lpstr>
      <vt:lpstr>Wingdings</vt:lpstr>
      <vt:lpstr>Wingdings 3</vt:lpstr>
      <vt:lpstr>Ion Boardroom</vt:lpstr>
      <vt:lpstr>Inventra – Intelligent Inventory Management System</vt:lpstr>
      <vt:lpstr>INTRODUCTION </vt:lpstr>
      <vt:lpstr>PROBLEM STATEMENT</vt:lpstr>
      <vt:lpstr>Solution Overview</vt:lpstr>
      <vt:lpstr>System Architecture</vt:lpstr>
      <vt:lpstr>PowerPoint Presentation</vt:lpstr>
      <vt:lpstr>PowerPoint Presentation</vt:lpstr>
      <vt:lpstr>Module 1  Authentication</vt:lpstr>
      <vt:lpstr>Module 1  Authentication</vt:lpstr>
      <vt:lpstr>Classes</vt:lpstr>
      <vt:lpstr>Work flow</vt:lpstr>
      <vt:lpstr>Flow </vt:lpstr>
      <vt:lpstr>Authentication  Database Schema</vt:lpstr>
      <vt:lpstr>Module 2  Product / Inventory Management</vt:lpstr>
      <vt:lpstr>Database </vt:lpstr>
      <vt:lpstr>Module 2  Product / Inventory Management</vt:lpstr>
      <vt:lpstr>classes</vt:lpstr>
      <vt:lpstr>Module 3 Inventory / Alerts </vt:lpstr>
      <vt:lpstr>Module 3 Inventory / Alerts </vt:lpstr>
      <vt:lpstr>classes</vt:lpstr>
      <vt:lpstr>Flow </vt:lpstr>
      <vt:lpstr>Module 4  Reports &amp; Analytics </vt:lpstr>
      <vt:lpstr>Module 4  Reports &amp; Analytics </vt:lpstr>
      <vt:lpstr>Flow </vt:lpstr>
      <vt:lpstr>Conclusion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Keerthana. Chintala</dc:creator>
  <cp:lastModifiedBy>Keerthan Karthikeya</cp:lastModifiedBy>
  <cp:revision>25</cp:revision>
  <dcterms:created xsi:type="dcterms:W3CDTF">2025-12-02T17:46:12Z</dcterms:created>
  <dcterms:modified xsi:type="dcterms:W3CDTF">2026-01-28T13:36:51Z</dcterms:modified>
</cp:coreProperties>
</file>